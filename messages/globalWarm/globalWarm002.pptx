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3" r:id="rId7"/>
    <p:sldId id="266" r:id="rId8"/>
    <p:sldId id="261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BB7F5-05D8-468A-A3F7-CDB5462D6B01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3B6E7-75A7-462E-AEB2-A57D5F709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9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88E0-10D0-9C65-39F1-BF7645D79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C38DB-A428-1F47-D2F7-F9859323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DC530-C3BB-C9CB-030B-521E06A1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C3A2-2720-5210-6829-C5435B77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40218-F527-8704-4C18-5D444C22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4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D56E-65E3-0062-C85B-7D8E5B9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4D96-042A-4347-BB7E-51F4F202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C85E8-3263-F79A-B3C7-3BDD5BC9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5D1D-FE6E-9115-E85A-5A3C2BEA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AB12-2C24-609F-468F-DFC54E3A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B4A5-03BC-8115-0B9F-159FCD12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84CA1-29E9-B449-6B9E-26CE76EC3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54DE-A2D8-6CEC-DE93-9A0EFDF2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F103E-4775-AAA3-1CDB-03763E3F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6B45B-99C4-B093-6073-8FEF5E05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1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09A7-3FEC-9DAB-CD13-4676CD76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BE5-3873-B971-2EA6-4FDEBFB77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F2EF7-11F8-BB17-F3D8-2C526BF53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BBB79-9590-4B90-7EB5-48DA6235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4450-51D3-ECA3-19FD-40CC4A37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8AB59-3DE6-8FF5-97EE-7FF377C7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3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A67D-6313-B382-864E-696AC54E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61247-AEA9-260A-3495-7B7198DCC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EC4C0-4ED6-0124-4D01-AC9BB9369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B9FD8-E9DC-6815-5A3D-58DC0621E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AE1C7-C95B-F04F-6431-2A8147A3D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E0ECB-3810-168D-4E5D-28D2A51B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4D082-537A-C7D5-CFD5-AFFB903A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1749E-7B3B-F012-5D54-50152710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E2D2-CB09-D355-5908-0E39F13F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34C18-02A4-133B-3222-5FC124C6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5A693-815D-5491-439D-AAF4F63A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C867-40F4-E51B-FC5D-D04B0CC2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8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24ED78-7FFC-F0EA-8D06-9E30681F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0AA0D-9DCD-990C-ED2B-6106C58F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81F6-BBB7-1D95-3B3F-6089568A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1D01-2984-BC39-75BA-E5F40D4D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915B-91EB-35DC-FF09-5D982E91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487BB-19ED-A564-F795-56B8132CF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4AEE4-200F-E9D5-F235-31A235CE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CAD4E-B63F-DC50-46DA-0A82A0D8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B8897-5805-C2A0-8D15-B5FFB9C1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9562-A810-1597-84D0-123740DB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99674-DF2B-E7C2-4EC6-DC949D21D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DDDD0-E218-F90D-113A-98AEB05F8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AB5FD-5E3C-94FC-09A9-B7112F5F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CAAB1-0476-0119-AFDC-8A9DCD3B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68E67-0441-FDE1-6E5A-6CCAB9D6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9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729E-6516-351C-A00D-91130693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DABC6-B6E2-4AA0-A955-0A1BD64AC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1096-8383-32C9-ED8A-6E902E8C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3049D-2DF8-81F7-67D5-9C9B8108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7CC27-A602-98A7-8876-709E2011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1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E1404-EEA5-C4BB-D374-7ACD6026B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31F42-2934-F021-2037-86D2FCE04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E43EC-CDAB-12A6-29EA-D414F3D0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5228-8CB6-FF57-7BFC-73576069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D008-3B01-F020-16FD-8B1E9541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5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6F0E9-F7DB-5045-FBF2-5C0EE21E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57FC5-EA7C-8920-94E8-CEAA8D4F1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00ACC-7474-FC06-B6EE-ABD3B12E1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99B8-9F48-5917-1B9C-293127B66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2F50D-2E1A-DA12-5F4F-AC17AFDF5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2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B229F-5CF8-A4C5-BAB4-05524796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I’m Jeff DeRemer </a:t>
            </a:r>
          </a:p>
          <a:p>
            <a:r>
              <a:rPr lang="en-US" dirty="0">
                <a:solidFill>
                  <a:srgbClr val="FFFFFF"/>
                </a:solidFill>
              </a:rPr>
              <a:t>Going to be 47</a:t>
            </a:r>
            <a:r>
              <a:rPr lang="en-US" baseline="30000" dirty="0">
                <a:solidFill>
                  <a:srgbClr val="FFFFFF"/>
                </a:solidFill>
              </a:rPr>
              <a:t>th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Here to discuss one of my plans: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Ice Halo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5E2DA872-979C-0B92-1437-8FF49958F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6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89C06-1445-B29C-3614-5E3F6269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A03253-931E-0739-8D7F-1F9CE3982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74629-5FE3-3FB5-4E86-FB40D86A9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4FBDDB-3973-2BF8-7CAD-7D7515A33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3E8F5-8D08-1B48-B8FD-A1DBFFC16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7699B3-820C-F5A7-8FD5-3B516FD2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A9F3C5-87EC-9225-51FB-60396109F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005ED1F-2CAF-7D98-789A-3D4222EA3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98EA6-722C-27C9-BB10-1CB550B98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State of the earth, now?</a:t>
            </a:r>
          </a:p>
          <a:p>
            <a:r>
              <a:rPr lang="en-US" dirty="0">
                <a:solidFill>
                  <a:srgbClr val="FFFFFF"/>
                </a:solidFill>
              </a:rPr>
              <a:t>We </a:t>
            </a:r>
            <a:r>
              <a:rPr lang="en-US" i="1" dirty="0">
                <a:solidFill>
                  <a:srgbClr val="FFFFFF"/>
                </a:solidFill>
              </a:rPr>
              <a:t>all</a:t>
            </a:r>
            <a:r>
              <a:rPr lang="en-US" dirty="0">
                <a:solidFill>
                  <a:srgbClr val="FFFFFF"/>
                </a:solidFill>
              </a:rPr>
              <a:t> share </a:t>
            </a:r>
            <a:r>
              <a:rPr lang="en-US" i="1" dirty="0">
                <a:solidFill>
                  <a:srgbClr val="FFFFFF"/>
                </a:solidFill>
              </a:rPr>
              <a:t>many</a:t>
            </a:r>
            <a:r>
              <a:rPr lang="en-US" dirty="0">
                <a:solidFill>
                  <a:srgbClr val="FFFFFF"/>
                </a:solidFill>
              </a:rPr>
              <a:t> threats</a:t>
            </a:r>
          </a:p>
          <a:p>
            <a:r>
              <a:rPr lang="en-US" dirty="0">
                <a:solidFill>
                  <a:srgbClr val="FFFFFF"/>
                </a:solidFill>
              </a:rPr>
              <a:t>#1 - Global Warming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E7B3B7D8-AD09-96E3-E458-AF9371710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pic>
        <p:nvPicPr>
          <p:cNvPr id="1026" name="Picture 2" descr="500 Global Warming Photos, Pictures And Background Images For Free Download  - Pngtree">
            <a:extLst>
              <a:ext uri="{FF2B5EF4-FFF2-40B4-BE49-F238E27FC236}">
                <a16:creationId xmlns:a16="http://schemas.microsoft.com/office/drawing/2014/main" id="{7EC8FAF0-0D4F-0F65-DB83-9F1760E6C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058" y="285000"/>
            <a:ext cx="6601514" cy="370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30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697B4-0313-AB8D-0D4C-BD69EA970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1CCBFA-9503-D654-E560-C0E6F8972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BD86F4-DB3C-7391-177C-3B1811AC5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BD64BB-2D38-9FC2-030D-1EEFD09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228A-5F21-B0BD-91F8-0D4C1F3F6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93BD31-DF18-3554-C2A9-A86BE78B0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158F0B-478F-0C1B-8A3A-DC1C92ECF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F5B7F59-E360-2E97-2587-10F57689F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0E735-EFF3-84DD-BBF2-574C7F02A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Current political offerings;</a:t>
            </a:r>
          </a:p>
          <a:p>
            <a:r>
              <a:rPr lang="en-US" dirty="0">
                <a:solidFill>
                  <a:srgbClr val="FFFFFF"/>
                </a:solidFill>
              </a:rPr>
              <a:t>Business as usual</a:t>
            </a:r>
          </a:p>
          <a:p>
            <a:r>
              <a:rPr lang="en-US" dirty="0">
                <a:solidFill>
                  <a:srgbClr val="FFFFFF"/>
                </a:solidFill>
              </a:rPr>
              <a:t>= “Fight!”</a:t>
            </a:r>
          </a:p>
          <a:p>
            <a:r>
              <a:rPr lang="en-US" dirty="0">
                <a:solidFill>
                  <a:srgbClr val="FFFFFF"/>
                </a:solidFill>
              </a:rPr>
              <a:t>We are anything but “Business as Usual”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1AA8BA84-25E9-75AB-13E0-B29B9B885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pic>
        <p:nvPicPr>
          <p:cNvPr id="2050" name="Picture 2" descr="LETTER: Why we're disgusted with both political parties">
            <a:extLst>
              <a:ext uri="{FF2B5EF4-FFF2-40B4-BE49-F238E27FC236}">
                <a16:creationId xmlns:a16="http://schemas.microsoft.com/office/drawing/2014/main" id="{D19177A7-7FB4-CA76-E90C-9F68D6F25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834" y="231759"/>
            <a:ext cx="3481809" cy="464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87E9F-D331-CD61-07F8-D61E14CA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31FB29-7B4F-2A87-FCDC-C51076FE1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6B4131-8365-3BC8-A0EA-057457C1B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AE81C7-C12C-EC2A-D696-198E7838A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7801F7-BAE3-9448-41C2-DD6B03A2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004EB-A53D-7F78-B32F-74F7548A0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039B2-9A04-99B7-521E-BCFC5103B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090AA64-6B73-492A-6D37-C66D9AE49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F8440-2400-C376-E78D-B07513B1E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 hate sensationalists</a:t>
            </a:r>
          </a:p>
          <a:p>
            <a:r>
              <a:rPr lang="en-US" dirty="0">
                <a:solidFill>
                  <a:srgbClr val="FFFFFF"/>
                </a:solidFill>
              </a:rPr>
              <a:t>But that’s where we are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It’s not “Coming” </a:t>
            </a:r>
          </a:p>
          <a:p>
            <a:r>
              <a:rPr lang="en-US" dirty="0">
                <a:solidFill>
                  <a:srgbClr val="FFFFFF"/>
                </a:solidFill>
              </a:rPr>
              <a:t>It arrived at our doorstep at the end of last summer</a:t>
            </a:r>
          </a:p>
          <a:p>
            <a:r>
              <a:rPr lang="en-US" dirty="0">
                <a:solidFill>
                  <a:srgbClr val="FFFFFF"/>
                </a:solidFill>
              </a:rPr>
              <a:t>This summer will be our first true taste of Hell on Earth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DB94AF21-396F-BB75-1617-8375B23B5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5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6C5B2-6B85-1875-E7D2-87388D9A2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D6DF440-7F8C-3902-CB79-348B25DAA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5AB18C-3A96-0CE4-1101-9367E6050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11244-7038-BF04-7E71-C4D4DFB60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483528-040F-4855-0827-3C7478944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1122AC-9DA2-B8F8-F587-832784A48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2F96E3-EC94-9405-02FB-77C8CD050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7D4695-59A1-F0A0-09AA-CB67D98EF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BD472-C757-729E-6A27-83B1ADFA1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 can &amp; will address these issues</a:t>
            </a:r>
          </a:p>
          <a:p>
            <a:r>
              <a:rPr lang="en-US" dirty="0">
                <a:solidFill>
                  <a:srgbClr val="FFFFFF"/>
                </a:solidFill>
              </a:rPr>
              <a:t>To do this – we all (and that includes you) need to rise above “The Fight”</a:t>
            </a:r>
          </a:p>
          <a:p>
            <a:r>
              <a:rPr lang="en-US" dirty="0">
                <a:solidFill>
                  <a:srgbClr val="FFFFFF"/>
                </a:solidFill>
              </a:rPr>
              <a:t>We need </a:t>
            </a:r>
            <a:r>
              <a:rPr lang="en-US" i="1" dirty="0">
                <a:solidFill>
                  <a:srgbClr val="FFFFFF"/>
                </a:solidFill>
              </a:rPr>
              <a:t>creative</a:t>
            </a:r>
            <a:r>
              <a:rPr lang="en-US" dirty="0">
                <a:solidFill>
                  <a:srgbClr val="FFFFFF"/>
                </a:solidFill>
              </a:rPr>
              <a:t> thinkers, able to adapt &amp; respond to whatever is coming our way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644F128F-CEED-B9F3-6B3C-288EB156E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7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8DB57-C0B7-99B8-6073-3F80CEDF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91ABA9-D7D5-B0D4-D687-7F0EA179D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F8B9DE-1DA1-C8B4-FDB8-833C1EB8E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E555EA-7B1E-E59A-900D-EC8066D05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E2BFD-0A09-E7B4-E151-C2DB761E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9244CD-06F1-ECEA-7E26-F0D81D9CC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B00B35-B812-D86A-82D6-41B60C9FB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DE54123-4206-E246-8460-BBD1E6201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17752-BD74-1DEC-7FB5-DD58D10D0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Big Idea on this one is a miles-wide* ribbon of ice – created by our flying bus infrastructure – which we can use to block the sun’s heat</a:t>
            </a:r>
          </a:p>
          <a:p>
            <a:r>
              <a:rPr lang="en-US" dirty="0">
                <a:solidFill>
                  <a:srgbClr val="FFFFFF"/>
                </a:solidFill>
              </a:rPr>
              <a:t>We are going to create “contrails”</a:t>
            </a:r>
          </a:p>
          <a:p>
            <a:r>
              <a:rPr lang="en-US" dirty="0">
                <a:solidFill>
                  <a:srgbClr val="FFFFFF"/>
                </a:solidFill>
              </a:rPr>
              <a:t>(not by using jet engines)</a:t>
            </a:r>
          </a:p>
          <a:p>
            <a:r>
              <a:rPr lang="en-US" dirty="0">
                <a:solidFill>
                  <a:srgbClr val="FFFFFF"/>
                </a:solidFill>
              </a:rPr>
              <a:t>We create as many of these ribbons as are needed, anywhere they’re requested 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47BF62B5-9B3C-DFB9-2073-391FDD273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FA7A7B-2BAA-A88B-BC32-61B5B14B3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240" y="593421"/>
            <a:ext cx="4976168" cy="40245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7FE72D-DD62-71FB-A297-77205DD73E6D}"/>
              </a:ext>
            </a:extLst>
          </p:cNvPr>
          <p:cNvSpPr txBox="1"/>
          <p:nvPr/>
        </p:nvSpPr>
        <p:spPr>
          <a:xfrm>
            <a:off x="5480240" y="4831972"/>
            <a:ext cx="4422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Like that -&gt; except ½ mile wide  </a:t>
            </a:r>
            <a:r>
              <a:rPr lang="en-US" sz="1800" dirty="0">
                <a:solidFill>
                  <a:srgbClr val="FFFFFF"/>
                </a:solidFill>
                <a:sym typeface="Wingdings" panose="05000000000000000000" pitchFamily="2" charset="2"/>
              </a:rPr>
              <a:t></a:t>
            </a:r>
            <a:endParaRPr lang="en-US" sz="1800" dirty="0">
              <a:solidFill>
                <a:srgbClr val="FFFFF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653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F80D4-BC15-2DDF-5D79-4D8EB166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E3655C-CE3F-E26C-2BE7-343B33F64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9F7453-378E-D634-9C43-9DEF19030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580CDB-B48A-2D86-EA68-D08747A7A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AFCC8E-1EFE-A1AF-9FC0-C9E42D8C0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91BA35-D583-99EE-BE1D-D3F65E92D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C5698D-5059-F55F-B0A3-B81947FA8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69DECF4-E359-DDA0-4A65-10BF830A2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F43BC-8D18-9BE6-3FE8-2ED47558F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growing number &amp; intensity of storms is going to peak</a:t>
            </a:r>
          </a:p>
          <a:p>
            <a:r>
              <a:rPr lang="en-US" dirty="0">
                <a:solidFill>
                  <a:srgbClr val="FFFFFF"/>
                </a:solidFill>
              </a:rPr>
              <a:t>2005’s Hurricane Katrina was a warm-up for just how </a:t>
            </a:r>
            <a:r>
              <a:rPr lang="en-US" i="1" dirty="0">
                <a:solidFill>
                  <a:srgbClr val="FFFFFF"/>
                </a:solidFill>
              </a:rPr>
              <a:t>un</a:t>
            </a:r>
            <a:r>
              <a:rPr lang="en-US" dirty="0">
                <a:solidFill>
                  <a:srgbClr val="FFFFFF"/>
                </a:solidFill>
              </a:rPr>
              <a:t>prepared we are</a:t>
            </a:r>
          </a:p>
          <a:p>
            <a:r>
              <a:rPr lang="en-US" dirty="0">
                <a:solidFill>
                  <a:srgbClr val="FFFFFF"/>
                </a:solidFill>
              </a:rPr>
              <a:t>The real storms are coming up, over these next few summers</a:t>
            </a:r>
          </a:p>
          <a:p>
            <a:r>
              <a:rPr lang="en-US" dirty="0">
                <a:solidFill>
                  <a:srgbClr val="FFFFFF"/>
                </a:solidFill>
              </a:rPr>
              <a:t>Starting this year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2FB41FF4-48C5-9802-7E32-B3CC07383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pic>
        <p:nvPicPr>
          <p:cNvPr id="3074" name="Picture 2" descr="Hurricane Katrina (2005) •">
            <a:extLst>
              <a:ext uri="{FF2B5EF4-FFF2-40B4-BE49-F238E27FC236}">
                <a16:creationId xmlns:a16="http://schemas.microsoft.com/office/drawing/2014/main" id="{5B9D59B4-17E0-ABD8-E7B1-AB2F7BE77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196" y="195943"/>
            <a:ext cx="3782008" cy="283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en years since the Boxing Day tsunami that hit South East Asia in 2004">
            <a:extLst>
              <a:ext uri="{FF2B5EF4-FFF2-40B4-BE49-F238E27FC236}">
                <a16:creationId xmlns:a16="http://schemas.microsoft.com/office/drawing/2014/main" id="{77BB34D9-B47E-CCD5-CA2C-5046303F1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514" y="3267928"/>
            <a:ext cx="4016051" cy="300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5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66493-8676-D91E-64C1-261CBEC25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DE09E37-7E67-B8E7-FD8F-03375CAAD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EFC2D7-E1AD-C233-872B-166223EA2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19EA0D-47E7-9E82-A78F-03FA6BE32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697BF8-5037-C24A-9CDD-B43A5A233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A38CB8-F31F-A2AF-41C7-3E495FD7F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A2D53D-35F3-A701-E697-0D6871B8C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FE7D156-2208-172E-D011-E0AA13A64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81291-7C60-A11D-8D1E-84830BA7A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Also – someone who can tackle the big 3:</a:t>
            </a:r>
          </a:p>
          <a:p>
            <a:r>
              <a:rPr lang="en-US" dirty="0">
                <a:solidFill>
                  <a:srgbClr val="FFFFFF"/>
                </a:solidFill>
              </a:rPr>
              <a:t>Oil &amp; Gas</a:t>
            </a:r>
          </a:p>
          <a:p>
            <a:r>
              <a:rPr lang="en-US" dirty="0">
                <a:solidFill>
                  <a:srgbClr val="FFFFFF"/>
                </a:solidFill>
              </a:rPr>
              <a:t>Plastics</a:t>
            </a:r>
          </a:p>
          <a:p>
            <a:r>
              <a:rPr lang="en-US" dirty="0">
                <a:solidFill>
                  <a:srgbClr val="FFFFFF"/>
                </a:solidFill>
              </a:rPr>
              <a:t>Transportation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2F5B2E0B-9100-0884-076F-B64651951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9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6A1FE-6E68-BEC7-6977-3D54F151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D10497-B307-BD98-B3F8-139DC353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448CBC-BBD8-8D77-B4E3-186EBF852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2B9F23-2F92-E5C2-7391-C518943B3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DC8D7B-C67C-C350-3483-7A77C50C7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5A6E29-0DAE-618D-C341-4C0C03D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E05BC9-AC70-7910-778E-95FFED961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30AE5E-9210-F5D4-84E8-05B9723FC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066BD-0045-15B0-3603-BE7AFDF85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If something here was interesting to you – please let me hear from you: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48559F41-C69C-8DAE-91AB-AE9DA0DF0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269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DeRemer</dc:creator>
  <cp:lastModifiedBy>Jeff DeRemer</cp:lastModifiedBy>
  <cp:revision>8</cp:revision>
  <dcterms:created xsi:type="dcterms:W3CDTF">2024-02-09T15:17:32Z</dcterms:created>
  <dcterms:modified xsi:type="dcterms:W3CDTF">2024-02-17T20:34:34Z</dcterms:modified>
</cp:coreProperties>
</file>